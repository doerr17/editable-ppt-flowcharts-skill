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method supplied in examples/method.md. Both feature routes receive the same validated input. Exceptions are QC-only and do not enter the feature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method supplied in examples/method.md. A complete record is removed if any declared exclusion condition is met. Identical retained records enter Method A and Method B independently. Their results and QC registers remain separate; the diagram does not imply pooling result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457200" y="228600"/>
            <a:ext cx="11277599" cy="530352"/>
          </a:xfrm>
          <a:prstGeom prst="rect">
            <a:avLst/>
          </a:prstGeom>
          <a:noFill/>
          <a:effectLst/>
        </p:spPr>
        <p:txBody>
          <a:bodyPr wrap="square" lIns="9144" rIns="9144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962A4"/>
                </a:solidFill>
                <a:latin typeface="Arial"/>
                <a:ea typeface="Microsoft YaHei"/>
              </a:rPr>
              <a:t>Data Validation &amp; Feature Extraction</a:t>
            </a:r>
          </a:p>
        </p:txBody>
      </p:sp>
      <p:sp>
        <p:nvSpPr>
          <p:cNvPr id="3" name="Slide subtitle"/>
          <p:cNvSpPr txBox="1"/>
          <p:nvPr/>
        </p:nvSpPr>
        <p:spPr>
          <a:xfrm>
            <a:off x="457200" y="804672"/>
            <a:ext cx="11277599" cy="320040"/>
          </a:xfrm>
          <a:prstGeom prst="rect">
            <a:avLst/>
          </a:prstGeom>
          <a:noFill/>
          <a:effectLst/>
        </p:spPr>
        <p:txBody>
          <a:bodyPr wrap="square" lIns="9144" rIns="9144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33333"/>
                </a:solidFill>
                <a:latin typeface="Arial"/>
                <a:ea typeface="Microsoft YaHei"/>
              </a:rPr>
              <a:t>From validated tables to a reproducible feature matrix</a:t>
            </a:r>
          </a:p>
        </p:txBody>
      </p:sp>
      <p:sp>
        <p:nvSpPr>
          <p:cNvPr id="4" name="edge:input-&gt;validate:1:1"/>
          <p:cNvSpPr/>
          <p:nvPr/>
        </p:nvSpPr>
        <p:spPr>
          <a:xfrm>
            <a:off x="2395728" y="1787652"/>
            <a:ext cx="246888" cy="228600"/>
          </a:xfrm>
          <a:prstGeom prst="rightArrow">
            <a:avLst/>
          </a:prstGeom>
          <a:solidFill>
            <a:srgbClr val="2962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ge:validate-&gt;missing:2:1"/>
          <p:cNvSpPr/>
          <p:nvPr/>
        </p:nvSpPr>
        <p:spPr>
          <a:xfrm>
            <a:off x="4873752" y="1787652"/>
            <a:ext cx="246887" cy="228600"/>
          </a:xfrm>
          <a:prstGeom prst="rightArrow">
            <a:avLst/>
          </a:prstGeom>
          <a:solidFill>
            <a:srgbClr val="2962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ge:missing-&gt;units:3:1"/>
          <p:cNvSpPr/>
          <p:nvPr/>
        </p:nvSpPr>
        <p:spPr>
          <a:xfrm>
            <a:off x="7205472" y="1787652"/>
            <a:ext cx="246888" cy="228600"/>
          </a:xfrm>
          <a:prstGeom prst="rightArrow">
            <a:avLst/>
          </a:prstGeom>
          <a:solidFill>
            <a:srgbClr val="2962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ge:units-&gt;ready:4:1"/>
          <p:cNvSpPr/>
          <p:nvPr/>
        </p:nvSpPr>
        <p:spPr>
          <a:xfrm>
            <a:off x="9765792" y="1787652"/>
            <a:ext cx="246887" cy="228600"/>
          </a:xfrm>
          <a:prstGeom prst="rightArrow">
            <a:avLst/>
          </a:prstGeom>
          <a:solidFill>
            <a:srgbClr val="2962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edge:ready-&gt;numeric:5:1"/>
          <p:cNvCxnSpPr/>
          <p:nvPr/>
        </p:nvCxnSpPr>
        <p:spPr>
          <a:xfrm>
            <a:off x="10904220" y="2450592"/>
            <a:ext cx="0" cy="676656"/>
          </a:xfrm>
          <a:prstGeom prst="line">
            <a:avLst/>
          </a:prstGeom>
          <a:ln w="21590">
            <a:solidFill>
              <a:srgbClr val="2962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dge:ready-&gt;numeric:5:2"/>
          <p:cNvCxnSpPr/>
          <p:nvPr/>
        </p:nvCxnSpPr>
        <p:spPr>
          <a:xfrm flipH="1">
            <a:off x="2304288" y="3127248"/>
            <a:ext cx="8599932" cy="0"/>
          </a:xfrm>
          <a:prstGeom prst="line">
            <a:avLst/>
          </a:prstGeom>
          <a:ln w="21590">
            <a:solidFill>
              <a:srgbClr val="2962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dge:ready-&gt;numeric:5:3"/>
          <p:cNvCxnSpPr/>
          <p:nvPr/>
        </p:nvCxnSpPr>
        <p:spPr>
          <a:xfrm>
            <a:off x="2304288" y="3127248"/>
            <a:ext cx="0" cy="274320"/>
          </a:xfrm>
          <a:prstGeom prst="line">
            <a:avLst/>
          </a:prstGeom>
          <a:ln w="21590">
            <a:solidFill>
              <a:srgbClr val="2962A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dge:ready-&gt;category:6:1"/>
          <p:cNvCxnSpPr/>
          <p:nvPr/>
        </p:nvCxnSpPr>
        <p:spPr>
          <a:xfrm>
            <a:off x="10904220" y="2450592"/>
            <a:ext cx="0" cy="676656"/>
          </a:xfrm>
          <a:prstGeom prst="line">
            <a:avLst/>
          </a:prstGeom>
          <a:ln w="21590">
            <a:solidFill>
              <a:srgbClr val="2962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dge:ready-&gt;category:6:2"/>
          <p:cNvCxnSpPr/>
          <p:nvPr/>
        </p:nvCxnSpPr>
        <p:spPr>
          <a:xfrm flipH="1">
            <a:off x="6300216" y="3127248"/>
            <a:ext cx="4604004" cy="0"/>
          </a:xfrm>
          <a:prstGeom prst="line">
            <a:avLst/>
          </a:prstGeom>
          <a:ln w="21590">
            <a:solidFill>
              <a:srgbClr val="2962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dge:ready-&gt;category:6:3"/>
          <p:cNvCxnSpPr/>
          <p:nvPr/>
        </p:nvCxnSpPr>
        <p:spPr>
          <a:xfrm>
            <a:off x="6300216" y="3127248"/>
            <a:ext cx="0" cy="274320"/>
          </a:xfrm>
          <a:prstGeom prst="line">
            <a:avLst/>
          </a:prstGeom>
          <a:ln w="21590">
            <a:solidFill>
              <a:srgbClr val="2962A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dge:ready-&gt;exceptions:7:1"/>
          <p:cNvCxnSpPr/>
          <p:nvPr/>
        </p:nvCxnSpPr>
        <p:spPr>
          <a:xfrm>
            <a:off x="10904220" y="2450592"/>
            <a:ext cx="0" cy="676656"/>
          </a:xfrm>
          <a:prstGeom prst="line">
            <a:avLst/>
          </a:prstGeom>
          <a:ln w="21590">
            <a:solidFill>
              <a:srgbClr val="B4B4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dge:ready-&gt;exceptions:7:2"/>
          <p:cNvCxnSpPr/>
          <p:nvPr/>
        </p:nvCxnSpPr>
        <p:spPr>
          <a:xfrm flipH="1">
            <a:off x="10529316" y="3127248"/>
            <a:ext cx="374904" cy="0"/>
          </a:xfrm>
          <a:prstGeom prst="line">
            <a:avLst/>
          </a:prstGeom>
          <a:ln w="21590">
            <a:solidFill>
              <a:srgbClr val="B4B4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dge:ready-&gt;exceptions:7:3"/>
          <p:cNvCxnSpPr/>
          <p:nvPr/>
        </p:nvCxnSpPr>
        <p:spPr>
          <a:xfrm>
            <a:off x="10529316" y="3127248"/>
            <a:ext cx="0" cy="274320"/>
          </a:xfrm>
          <a:prstGeom prst="line">
            <a:avLst/>
          </a:prstGeom>
          <a:ln w="21590">
            <a:solidFill>
              <a:srgbClr val="B4B4B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dge:numeric-&gt;matrix:8:1"/>
          <p:cNvCxnSpPr/>
          <p:nvPr/>
        </p:nvCxnSpPr>
        <p:spPr>
          <a:xfrm>
            <a:off x="2304288" y="4672584"/>
            <a:ext cx="0" cy="320040"/>
          </a:xfrm>
          <a:prstGeom prst="line">
            <a:avLst/>
          </a:prstGeom>
          <a:ln w="21590">
            <a:solidFill>
              <a:srgbClr val="2962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dge:numeric-&gt;matrix:8:2"/>
          <p:cNvCxnSpPr/>
          <p:nvPr/>
        </p:nvCxnSpPr>
        <p:spPr>
          <a:xfrm>
            <a:off x="2304288" y="4992624"/>
            <a:ext cx="1997964" cy="0"/>
          </a:xfrm>
          <a:prstGeom prst="line">
            <a:avLst/>
          </a:prstGeom>
          <a:ln w="21590">
            <a:solidFill>
              <a:srgbClr val="2962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dge:numeric-&gt;matrix:8:3"/>
          <p:cNvCxnSpPr/>
          <p:nvPr/>
        </p:nvCxnSpPr>
        <p:spPr>
          <a:xfrm>
            <a:off x="4302252" y="4992624"/>
            <a:ext cx="0" cy="320040"/>
          </a:xfrm>
          <a:prstGeom prst="line">
            <a:avLst/>
          </a:prstGeom>
          <a:ln w="21590">
            <a:solidFill>
              <a:srgbClr val="2962A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dge:category-&gt;matrix:9:1"/>
          <p:cNvCxnSpPr/>
          <p:nvPr/>
        </p:nvCxnSpPr>
        <p:spPr>
          <a:xfrm>
            <a:off x="6300216" y="4672584"/>
            <a:ext cx="0" cy="320040"/>
          </a:xfrm>
          <a:prstGeom prst="line">
            <a:avLst/>
          </a:prstGeom>
          <a:ln w="21590">
            <a:solidFill>
              <a:srgbClr val="2962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dge:category-&gt;matrix:9:2"/>
          <p:cNvCxnSpPr/>
          <p:nvPr/>
        </p:nvCxnSpPr>
        <p:spPr>
          <a:xfrm flipH="1">
            <a:off x="4302252" y="4992624"/>
            <a:ext cx="1997964" cy="0"/>
          </a:xfrm>
          <a:prstGeom prst="line">
            <a:avLst/>
          </a:prstGeom>
          <a:ln w="21590">
            <a:solidFill>
              <a:srgbClr val="2962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dge:category-&gt;matrix:9:3"/>
          <p:cNvCxnSpPr/>
          <p:nvPr/>
        </p:nvCxnSpPr>
        <p:spPr>
          <a:xfrm>
            <a:off x="4302252" y="4992624"/>
            <a:ext cx="0" cy="320040"/>
          </a:xfrm>
          <a:prstGeom prst="line">
            <a:avLst/>
          </a:prstGeom>
          <a:ln w="21590">
            <a:solidFill>
              <a:srgbClr val="2962A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dge:exceptions-&gt;qc:10:1"/>
          <p:cNvCxnSpPr/>
          <p:nvPr/>
        </p:nvCxnSpPr>
        <p:spPr>
          <a:xfrm>
            <a:off x="10529316" y="4672584"/>
            <a:ext cx="0" cy="640080"/>
          </a:xfrm>
          <a:prstGeom prst="line">
            <a:avLst/>
          </a:prstGeom>
          <a:ln w="21590">
            <a:solidFill>
              <a:srgbClr val="B4B4B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node:input"/>
          <p:cNvSpPr/>
          <p:nvPr/>
        </p:nvSpPr>
        <p:spPr>
          <a:xfrm>
            <a:off x="457200" y="1353312"/>
            <a:ext cx="1874519" cy="109728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5240">
            <a:solidFill>
              <a:srgbClr val="B4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333333"/>
                </a:solidFill>
                <a:latin typeface="Arial"/>
                <a:ea typeface="Microsoft YaHei"/>
              </a:rPr>
              <a:t>Input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333333"/>
                </a:solidFill>
                <a:latin typeface="Arial"/>
                <a:ea typeface="Microsoft YaHei"/>
              </a:rPr>
              <a:t>Data tables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333333"/>
                </a:solidFill>
                <a:latin typeface="Arial"/>
                <a:ea typeface="Microsoft YaHei"/>
              </a:rPr>
              <a:t>Sample manifest</a:t>
            </a:r>
          </a:p>
        </p:txBody>
      </p:sp>
      <p:sp>
        <p:nvSpPr>
          <p:cNvPr id="25" name="node:validate"/>
          <p:cNvSpPr/>
          <p:nvPr/>
        </p:nvSpPr>
        <p:spPr>
          <a:xfrm>
            <a:off x="2706624" y="1353312"/>
            <a:ext cx="2103120" cy="1097280"/>
          </a:xfrm>
          <a:prstGeom prst="roundRect">
            <a:avLst>
              <a:gd name="adj" fmla="val 12000"/>
            </a:avLst>
          </a:prstGeom>
          <a:solidFill>
            <a:srgbClr val="DCEBFC"/>
          </a:solidFill>
          <a:ln w="15240">
            <a:solidFill>
              <a:srgbClr val="296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962A4"/>
                </a:solidFill>
                <a:latin typeface="Arial"/>
                <a:ea typeface="Microsoft YaHei"/>
              </a:rPr>
              <a:t>Validate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333333"/>
                </a:solidFill>
                <a:latin typeface="Arial"/>
                <a:ea typeface="Microsoft YaHei"/>
              </a:rPr>
              <a:t>Files + sample IDs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333333"/>
                </a:solidFill>
                <a:latin typeface="Arial"/>
                <a:ea typeface="Microsoft YaHei"/>
              </a:rPr>
              <a:t>Units + QC reports</a:t>
            </a:r>
          </a:p>
        </p:txBody>
      </p:sp>
      <p:sp>
        <p:nvSpPr>
          <p:cNvPr id="26" name="node:missing"/>
          <p:cNvSpPr/>
          <p:nvPr/>
        </p:nvSpPr>
        <p:spPr>
          <a:xfrm>
            <a:off x="5184648" y="1353312"/>
            <a:ext cx="1956816" cy="1097280"/>
          </a:xfrm>
          <a:prstGeom prst="roundRect">
            <a:avLst>
              <a:gd name="adj" fmla="val 12000"/>
            </a:avLst>
          </a:prstGeom>
          <a:solidFill>
            <a:srgbClr val="DCF5E6"/>
          </a:solidFill>
          <a:ln w="1524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2E8B57"/>
                </a:solidFill>
                <a:latin typeface="Arial"/>
                <a:ea typeface="Microsoft YaHei"/>
              </a:rPr>
              <a:t>Missing fields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333333"/>
                </a:solidFill>
                <a:latin typeface="Arial"/>
                <a:ea typeface="Microsoft YaHei"/>
              </a:rPr>
              <a:t>Evidence-based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333333"/>
                </a:solidFill>
                <a:latin typeface="Arial"/>
                <a:ea typeface="Microsoft YaHei"/>
              </a:rPr>
              <a:t>handling</a:t>
            </a:r>
          </a:p>
        </p:txBody>
      </p:sp>
      <p:sp>
        <p:nvSpPr>
          <p:cNvPr id="27" name="node:units"/>
          <p:cNvSpPr/>
          <p:nvPr/>
        </p:nvSpPr>
        <p:spPr>
          <a:xfrm>
            <a:off x="7516368" y="1353312"/>
            <a:ext cx="2185416" cy="1097280"/>
          </a:xfrm>
          <a:prstGeom prst="roundRect">
            <a:avLst>
              <a:gd name="adj" fmla="val 12000"/>
            </a:avLst>
          </a:prstGeom>
          <a:solidFill>
            <a:srgbClr val="FFF0DC"/>
          </a:solidFill>
          <a:ln w="1524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E67E22"/>
                </a:solidFill>
                <a:latin typeface="Arial"/>
                <a:ea typeface="Microsoft YaHei"/>
              </a:rPr>
              <a:t>Harmonize units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333333"/>
                </a:solidFill>
                <a:latin typeface="Arial"/>
                <a:ea typeface="Microsoft YaHei"/>
              </a:rPr>
              <a:t>Preserve declared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333333"/>
                </a:solidFill>
                <a:latin typeface="Arial"/>
                <a:ea typeface="Microsoft YaHei"/>
              </a:rPr>
              <a:t>measurement units</a:t>
            </a:r>
          </a:p>
        </p:txBody>
      </p:sp>
      <p:sp>
        <p:nvSpPr>
          <p:cNvPr id="28" name="node:ready"/>
          <p:cNvSpPr/>
          <p:nvPr/>
        </p:nvSpPr>
        <p:spPr>
          <a:xfrm>
            <a:off x="10076688" y="1353312"/>
            <a:ext cx="1655064" cy="1097280"/>
          </a:xfrm>
          <a:prstGeom prst="roundRect">
            <a:avLst>
              <a:gd name="adj" fmla="val 12000"/>
            </a:avLst>
          </a:prstGeom>
          <a:solidFill>
            <a:srgbClr val="F0E1FA"/>
          </a:solidFill>
          <a:ln w="1524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8E44AD"/>
                </a:solidFill>
                <a:latin typeface="Arial"/>
                <a:ea typeface="Microsoft YaHei"/>
              </a:rPr>
              <a:t>Ready data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333333"/>
                </a:solidFill>
                <a:latin typeface="Arial"/>
                <a:ea typeface="Microsoft YaHei"/>
              </a:rPr>
              <a:t>Ready for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333333"/>
                </a:solidFill>
                <a:latin typeface="Arial"/>
                <a:ea typeface="Microsoft YaHei"/>
              </a:rPr>
              <a:t>extraction</a:t>
            </a:r>
          </a:p>
        </p:txBody>
      </p:sp>
      <p:sp>
        <p:nvSpPr>
          <p:cNvPr id="29" name="node:caption"/>
          <p:cNvSpPr txBox="1"/>
          <p:nvPr/>
        </p:nvSpPr>
        <p:spPr>
          <a:xfrm>
            <a:off x="457200" y="2706624"/>
            <a:ext cx="10515600" cy="329184"/>
          </a:xfrm>
          <a:prstGeom prst="rect">
            <a:avLst/>
          </a:prstGeom>
          <a:noFill/>
          <a:effectLst/>
        </p:spPr>
        <p:txBody>
          <a:bodyPr wrap="square" lIns="9144" rIns="9144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962A4"/>
                </a:solidFill>
                <a:latin typeface="Arial"/>
                <a:ea typeface="Microsoft YaHei"/>
              </a:rPr>
              <a:t>Feature extraction and QC</a:t>
            </a:r>
          </a:p>
        </p:txBody>
      </p:sp>
      <p:sp>
        <p:nvSpPr>
          <p:cNvPr id="30" name="node:numeric"/>
          <p:cNvSpPr/>
          <p:nvPr/>
        </p:nvSpPr>
        <p:spPr>
          <a:xfrm>
            <a:off x="457200" y="3401568"/>
            <a:ext cx="3694176" cy="1271016"/>
          </a:xfrm>
          <a:prstGeom prst="roundRect">
            <a:avLst>
              <a:gd name="adj" fmla="val 12000"/>
            </a:avLst>
          </a:prstGeom>
          <a:solidFill>
            <a:srgbClr val="DCEBFC"/>
          </a:solidFill>
          <a:ln w="15240">
            <a:solidFill>
              <a:srgbClr val="296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962A4"/>
                </a:solidFill>
                <a:latin typeface="Arial"/>
                <a:ea typeface="Microsoft YaHei"/>
              </a:rPr>
              <a:t>Numeric features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333333"/>
                </a:solidFill>
                <a:latin typeface="Arial"/>
                <a:ea typeface="Microsoft YaHei"/>
              </a:rPr>
              <a:t>Extract numeric variables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333333"/>
                </a:solidFill>
                <a:latin typeface="Arial"/>
                <a:ea typeface="Microsoft YaHei"/>
              </a:rPr>
              <a:t>Keep sample alignment</a:t>
            </a:r>
          </a:p>
        </p:txBody>
      </p:sp>
      <p:sp>
        <p:nvSpPr>
          <p:cNvPr id="31" name="node:category"/>
          <p:cNvSpPr/>
          <p:nvPr/>
        </p:nvSpPr>
        <p:spPr>
          <a:xfrm>
            <a:off x="4453128" y="3401568"/>
            <a:ext cx="3694176" cy="1271016"/>
          </a:xfrm>
          <a:prstGeom prst="roundRect">
            <a:avLst>
              <a:gd name="adj" fmla="val 12000"/>
            </a:avLst>
          </a:prstGeom>
          <a:solidFill>
            <a:srgbClr val="DCF5E6"/>
          </a:solidFill>
          <a:ln w="1524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E8B57"/>
                </a:solidFill>
                <a:latin typeface="Arial"/>
                <a:ea typeface="Microsoft YaHei"/>
              </a:rPr>
              <a:t>Categorical features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333333"/>
                </a:solidFill>
                <a:latin typeface="Arial"/>
                <a:ea typeface="Microsoft YaHei"/>
              </a:rPr>
              <a:t>Encode declared categories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333333"/>
                </a:solidFill>
                <a:latin typeface="Arial"/>
                <a:ea typeface="Microsoft YaHei"/>
              </a:rPr>
              <a:t>Keep sample alignment</a:t>
            </a:r>
          </a:p>
        </p:txBody>
      </p:sp>
      <p:sp>
        <p:nvSpPr>
          <p:cNvPr id="32" name="node:exceptions"/>
          <p:cNvSpPr/>
          <p:nvPr/>
        </p:nvSpPr>
        <p:spPr>
          <a:xfrm>
            <a:off x="9326880" y="3401568"/>
            <a:ext cx="2404872" cy="1271016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5240">
            <a:solidFill>
              <a:srgbClr val="B4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333333"/>
                </a:solidFill>
                <a:latin typeface="Arial"/>
                <a:ea typeface="Microsoft YaHei"/>
              </a:rPr>
              <a:t>Exceptions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333333"/>
                </a:solidFill>
                <a:latin typeface="Arial"/>
                <a:ea typeface="Microsoft YaHei"/>
              </a:rPr>
              <a:t>Record reasons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333333"/>
                </a:solidFill>
                <a:latin typeface="Arial"/>
                <a:ea typeface="Microsoft YaHei"/>
              </a:rPr>
              <a:t>QC only</a:t>
            </a:r>
          </a:p>
        </p:txBody>
      </p:sp>
      <p:sp>
        <p:nvSpPr>
          <p:cNvPr id="33" name="node:matrix"/>
          <p:cNvSpPr/>
          <p:nvPr/>
        </p:nvSpPr>
        <p:spPr>
          <a:xfrm>
            <a:off x="457200" y="5312664"/>
            <a:ext cx="7690104" cy="795528"/>
          </a:xfrm>
          <a:prstGeom prst="roundRect">
            <a:avLst>
              <a:gd name="adj" fmla="val 12000"/>
            </a:avLst>
          </a:prstGeom>
          <a:solidFill>
            <a:srgbClr val="F0E1FA"/>
          </a:solidFill>
          <a:ln w="1524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8E44AD"/>
                </a:solidFill>
                <a:latin typeface="Arial"/>
                <a:ea typeface="Microsoft YaHei"/>
              </a:rPr>
              <a:t>Feature matrix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333333"/>
                </a:solidFill>
                <a:latin typeface="Arial"/>
                <a:ea typeface="Microsoft YaHei"/>
              </a:rPr>
              <a:t>Numeric + categorical features</a:t>
            </a:r>
          </a:p>
        </p:txBody>
      </p:sp>
      <p:sp>
        <p:nvSpPr>
          <p:cNvPr id="34" name="node:qc"/>
          <p:cNvSpPr/>
          <p:nvPr/>
        </p:nvSpPr>
        <p:spPr>
          <a:xfrm>
            <a:off x="9326880" y="5312664"/>
            <a:ext cx="2404872" cy="795528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5240">
            <a:solidFill>
              <a:srgbClr val="B4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333333"/>
                </a:solidFill>
                <a:latin typeface="Arial"/>
                <a:ea typeface="Microsoft YaHei"/>
              </a:rPr>
              <a:t>QC register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333333"/>
                </a:solidFill>
                <a:latin typeface="Arial"/>
                <a:ea typeface="Microsoft YaHei"/>
              </a:rPr>
              <a:t>Excluded records</a:t>
            </a:r>
          </a:p>
        </p:txBody>
      </p:sp>
      <p:sp>
        <p:nvSpPr>
          <p:cNvPr id="35" name="Slide footer"/>
          <p:cNvSpPr txBox="1"/>
          <p:nvPr/>
        </p:nvSpPr>
        <p:spPr>
          <a:xfrm>
            <a:off x="457200" y="6492240"/>
            <a:ext cx="10363199" cy="246888"/>
          </a:xfrm>
          <a:prstGeom prst="rect">
            <a:avLst/>
          </a:prstGeom>
          <a:noFill/>
          <a:effectLst/>
        </p:spPr>
        <p:txBody>
          <a:bodyPr wrap="square" lIns="9144" rIns="9144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37373"/>
                </a:solidFill>
                <a:latin typeface="Arial"/>
                <a:ea typeface="Microsoft YaHei"/>
              </a:rPr>
              <a:t>Exceptions contribute only to QC; preserve sample IDs and declared units.</a:t>
            </a:r>
          </a:p>
        </p:txBody>
      </p:sp>
      <p:sp>
        <p:nvSpPr>
          <p:cNvPr id="36" name="Page number"/>
          <p:cNvSpPr txBox="1"/>
          <p:nvPr/>
        </p:nvSpPr>
        <p:spPr>
          <a:xfrm>
            <a:off x="11113007" y="6656832"/>
            <a:ext cx="594360" cy="182880"/>
          </a:xfrm>
          <a:prstGeom prst="rect">
            <a:avLst/>
          </a:prstGeom>
          <a:noFill/>
          <a:effectLst/>
        </p:spPr>
        <p:txBody>
          <a:bodyPr wrap="square" lIns="9144" rIns="54864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37373"/>
                </a:solidFill>
                <a:latin typeface="Arial"/>
                <a:ea typeface="Microsoft YaHei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457200" y="228600"/>
            <a:ext cx="11277599" cy="530352"/>
          </a:xfrm>
          <a:prstGeom prst="rect">
            <a:avLst/>
          </a:prstGeom>
          <a:noFill/>
          <a:effectLst/>
        </p:spPr>
        <p:txBody>
          <a:bodyPr wrap="square" lIns="9144" rIns="9144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962A4"/>
                </a:solidFill>
                <a:latin typeface="Arial"/>
                <a:ea typeface="Microsoft YaHei"/>
              </a:rPr>
              <a:t>Independent Analysis Routes</a:t>
            </a:r>
          </a:p>
        </p:txBody>
      </p:sp>
      <p:sp>
        <p:nvSpPr>
          <p:cNvPr id="3" name="Slide subtitle"/>
          <p:cNvSpPr txBox="1"/>
          <p:nvPr/>
        </p:nvSpPr>
        <p:spPr>
          <a:xfrm>
            <a:off x="457200" y="804672"/>
            <a:ext cx="11277599" cy="320040"/>
          </a:xfrm>
          <a:prstGeom prst="rect">
            <a:avLst/>
          </a:prstGeom>
          <a:noFill/>
          <a:effectLst/>
        </p:spPr>
        <p:txBody>
          <a:bodyPr wrap="square" lIns="9144" rIns="9144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33333"/>
                </a:solidFill>
                <a:latin typeface="Arial"/>
                <a:ea typeface="Microsoft YaHei"/>
              </a:rPr>
              <a:t>Sequential exclusion followed by two independent analyses</a:t>
            </a:r>
          </a:p>
        </p:txBody>
      </p:sp>
      <p:sp>
        <p:nvSpPr>
          <p:cNvPr id="4" name="edge:input-&gt;duplicates:1:1"/>
          <p:cNvSpPr/>
          <p:nvPr/>
        </p:nvSpPr>
        <p:spPr>
          <a:xfrm>
            <a:off x="2587752" y="1732788"/>
            <a:ext cx="374904" cy="228600"/>
          </a:xfrm>
          <a:prstGeom prst="rightArrow">
            <a:avLst/>
          </a:prstGeom>
          <a:solidFill>
            <a:srgbClr val="2962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ge:duplicates-&gt;invalid:2:1"/>
          <p:cNvSpPr/>
          <p:nvPr/>
        </p:nvSpPr>
        <p:spPr>
          <a:xfrm>
            <a:off x="5532120" y="1732788"/>
            <a:ext cx="384047" cy="228600"/>
          </a:xfrm>
          <a:prstGeom prst="rightArrow">
            <a:avLst/>
          </a:prstGeom>
          <a:solidFill>
            <a:srgbClr val="2962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ge:invalid-&gt;ineligible:3:1"/>
          <p:cNvSpPr/>
          <p:nvPr/>
        </p:nvSpPr>
        <p:spPr>
          <a:xfrm>
            <a:off x="8485632" y="1732788"/>
            <a:ext cx="384047" cy="228600"/>
          </a:xfrm>
          <a:prstGeom prst="rightArrow">
            <a:avLst/>
          </a:prstGeom>
          <a:solidFill>
            <a:srgbClr val="2962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edge:ineligible-&gt;retained:4:1"/>
          <p:cNvCxnSpPr/>
          <p:nvPr/>
        </p:nvCxnSpPr>
        <p:spPr>
          <a:xfrm>
            <a:off x="10337292" y="2340864"/>
            <a:ext cx="0" cy="832104"/>
          </a:xfrm>
          <a:prstGeom prst="line">
            <a:avLst/>
          </a:prstGeom>
          <a:ln w="21590">
            <a:solidFill>
              <a:srgbClr val="2962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dge:ineligible-&gt;retained:4:2"/>
          <p:cNvCxnSpPr/>
          <p:nvPr/>
        </p:nvCxnSpPr>
        <p:spPr>
          <a:xfrm flipH="1">
            <a:off x="6094476" y="3172968"/>
            <a:ext cx="4242816" cy="0"/>
          </a:xfrm>
          <a:prstGeom prst="line">
            <a:avLst/>
          </a:prstGeom>
          <a:ln w="21590">
            <a:solidFill>
              <a:srgbClr val="2962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dge:ineligible-&gt;retained:4:3"/>
          <p:cNvCxnSpPr/>
          <p:nvPr/>
        </p:nvCxnSpPr>
        <p:spPr>
          <a:xfrm>
            <a:off x="6094476" y="3172968"/>
            <a:ext cx="0" cy="192024"/>
          </a:xfrm>
          <a:prstGeom prst="line">
            <a:avLst/>
          </a:prstGeom>
          <a:ln w="21590">
            <a:solidFill>
              <a:srgbClr val="2962A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dge:retained-&gt;a:5:1"/>
          <p:cNvCxnSpPr/>
          <p:nvPr/>
        </p:nvCxnSpPr>
        <p:spPr>
          <a:xfrm>
            <a:off x="6094476" y="4005072"/>
            <a:ext cx="0" cy="228600"/>
          </a:xfrm>
          <a:prstGeom prst="line">
            <a:avLst/>
          </a:prstGeom>
          <a:ln w="21590">
            <a:solidFill>
              <a:srgbClr val="2962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dge:retained-&gt;a:5:2"/>
          <p:cNvCxnSpPr/>
          <p:nvPr/>
        </p:nvCxnSpPr>
        <p:spPr>
          <a:xfrm flipH="1">
            <a:off x="3063240" y="4233672"/>
            <a:ext cx="3031236" cy="0"/>
          </a:xfrm>
          <a:prstGeom prst="line">
            <a:avLst/>
          </a:prstGeom>
          <a:ln w="21590">
            <a:solidFill>
              <a:srgbClr val="2962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dge:retained-&gt;a:5:3"/>
          <p:cNvCxnSpPr/>
          <p:nvPr/>
        </p:nvCxnSpPr>
        <p:spPr>
          <a:xfrm>
            <a:off x="3063240" y="4233672"/>
            <a:ext cx="0" cy="228600"/>
          </a:xfrm>
          <a:prstGeom prst="line">
            <a:avLst/>
          </a:prstGeom>
          <a:ln w="21590">
            <a:solidFill>
              <a:srgbClr val="2962A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dge:retained-&gt;b:6:1"/>
          <p:cNvCxnSpPr/>
          <p:nvPr/>
        </p:nvCxnSpPr>
        <p:spPr>
          <a:xfrm>
            <a:off x="6094476" y="4005072"/>
            <a:ext cx="0" cy="228600"/>
          </a:xfrm>
          <a:prstGeom prst="line">
            <a:avLst/>
          </a:prstGeom>
          <a:ln w="21590">
            <a:solidFill>
              <a:srgbClr val="2962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dge:retained-&gt;b:6:2"/>
          <p:cNvCxnSpPr/>
          <p:nvPr/>
        </p:nvCxnSpPr>
        <p:spPr>
          <a:xfrm>
            <a:off x="6094476" y="4233672"/>
            <a:ext cx="3031236" cy="0"/>
          </a:xfrm>
          <a:prstGeom prst="line">
            <a:avLst/>
          </a:prstGeom>
          <a:ln w="21590">
            <a:solidFill>
              <a:srgbClr val="2962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dge:retained-&gt;b:6:3"/>
          <p:cNvCxnSpPr/>
          <p:nvPr/>
        </p:nvCxnSpPr>
        <p:spPr>
          <a:xfrm>
            <a:off x="9125712" y="4233672"/>
            <a:ext cx="0" cy="228600"/>
          </a:xfrm>
          <a:prstGeom prst="line">
            <a:avLst/>
          </a:prstGeom>
          <a:ln w="21590">
            <a:solidFill>
              <a:srgbClr val="2962A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dge:a-&gt;outa:7:1"/>
          <p:cNvCxnSpPr/>
          <p:nvPr/>
        </p:nvCxnSpPr>
        <p:spPr>
          <a:xfrm>
            <a:off x="3063240" y="5449824"/>
            <a:ext cx="0" cy="402336"/>
          </a:xfrm>
          <a:prstGeom prst="line">
            <a:avLst/>
          </a:prstGeom>
          <a:ln w="21590">
            <a:solidFill>
              <a:srgbClr val="2962A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dge:b-&gt;outb:8:1"/>
          <p:cNvCxnSpPr/>
          <p:nvPr/>
        </p:nvCxnSpPr>
        <p:spPr>
          <a:xfrm>
            <a:off x="9125712" y="5449824"/>
            <a:ext cx="0" cy="402336"/>
          </a:xfrm>
          <a:prstGeom prst="line">
            <a:avLst/>
          </a:prstGeom>
          <a:ln w="21590">
            <a:solidFill>
              <a:srgbClr val="2962A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node:input"/>
          <p:cNvSpPr/>
          <p:nvPr/>
        </p:nvSpPr>
        <p:spPr>
          <a:xfrm>
            <a:off x="457200" y="1353312"/>
            <a:ext cx="2057400" cy="987552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5240">
            <a:solidFill>
              <a:srgbClr val="B4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333333"/>
                </a:solidFill>
                <a:latin typeface="Arial"/>
                <a:ea typeface="Microsoft YaHei"/>
              </a:rPr>
              <a:t>Input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333333"/>
                </a:solidFill>
                <a:latin typeface="Arial"/>
                <a:ea typeface="Microsoft YaHei"/>
              </a:rPr>
              <a:t>Validated data</a:t>
            </a:r>
          </a:p>
        </p:txBody>
      </p:sp>
      <p:sp>
        <p:nvSpPr>
          <p:cNvPr id="19" name="node:duplicates"/>
          <p:cNvSpPr/>
          <p:nvPr/>
        </p:nvSpPr>
        <p:spPr>
          <a:xfrm>
            <a:off x="3035808" y="1353312"/>
            <a:ext cx="2423160" cy="987552"/>
          </a:xfrm>
          <a:prstGeom prst="roundRect">
            <a:avLst>
              <a:gd name="adj" fmla="val 12000"/>
            </a:avLst>
          </a:prstGeom>
          <a:solidFill>
            <a:srgbClr val="DCEBFC"/>
          </a:solidFill>
          <a:ln w="15240">
            <a:solidFill>
              <a:srgbClr val="296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2962A4"/>
                </a:solidFill>
                <a:latin typeface="Arial"/>
                <a:ea typeface="Microsoft YaHei"/>
              </a:rPr>
              <a:t>Exclude duplicates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333333"/>
                </a:solidFill>
                <a:latin typeface="Arial"/>
                <a:ea typeface="Microsoft YaHei"/>
              </a:rPr>
              <a:t>Keep exclusion reason</a:t>
            </a:r>
          </a:p>
        </p:txBody>
      </p:sp>
      <p:sp>
        <p:nvSpPr>
          <p:cNvPr id="20" name="node:invalid"/>
          <p:cNvSpPr/>
          <p:nvPr/>
        </p:nvSpPr>
        <p:spPr>
          <a:xfrm>
            <a:off x="5989320" y="1353312"/>
            <a:ext cx="2423160" cy="987552"/>
          </a:xfrm>
          <a:prstGeom prst="roundRect">
            <a:avLst>
              <a:gd name="adj" fmla="val 12000"/>
            </a:avLst>
          </a:prstGeom>
          <a:solidFill>
            <a:srgbClr val="DCF5E6"/>
          </a:solidFill>
          <a:ln w="1524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1">
                <a:solidFill>
                  <a:srgbClr val="2E8B57"/>
                </a:solidFill>
                <a:latin typeface="Arial"/>
                <a:ea typeface="Microsoft YaHei"/>
              </a:rPr>
              <a:t>Exclude invalid records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333333"/>
                </a:solidFill>
                <a:latin typeface="Arial"/>
                <a:ea typeface="Microsoft YaHei"/>
              </a:rPr>
              <a:t>Keep exclusion reason</a:t>
            </a:r>
          </a:p>
        </p:txBody>
      </p:sp>
      <p:sp>
        <p:nvSpPr>
          <p:cNvPr id="21" name="node:ineligible"/>
          <p:cNvSpPr/>
          <p:nvPr/>
        </p:nvSpPr>
        <p:spPr>
          <a:xfrm>
            <a:off x="8942832" y="1353312"/>
            <a:ext cx="2788920" cy="987552"/>
          </a:xfrm>
          <a:prstGeom prst="roundRect">
            <a:avLst>
              <a:gd name="adj" fmla="val 12000"/>
            </a:avLst>
          </a:prstGeom>
          <a:solidFill>
            <a:srgbClr val="FFF0DC"/>
          </a:solidFill>
          <a:ln w="1524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E67E22"/>
                </a:solidFill>
                <a:latin typeface="Arial"/>
                <a:ea typeface="Microsoft YaHei"/>
              </a:rPr>
              <a:t>Exclude ineligible samples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333333"/>
                </a:solidFill>
                <a:latin typeface="Arial"/>
                <a:ea typeface="Microsoft YaHei"/>
              </a:rPr>
              <a:t>Keep exclusion reason</a:t>
            </a:r>
          </a:p>
        </p:txBody>
      </p:sp>
      <p:sp>
        <p:nvSpPr>
          <p:cNvPr id="22" name="node:rule"/>
          <p:cNvSpPr txBox="1"/>
          <p:nvPr/>
        </p:nvSpPr>
        <p:spPr>
          <a:xfrm>
            <a:off x="457200" y="2651760"/>
            <a:ext cx="11274552" cy="365760"/>
          </a:xfrm>
          <a:prstGeom prst="rect">
            <a:avLst/>
          </a:prstGeom>
          <a:noFill/>
          <a:effectLst/>
        </p:spPr>
        <p:txBody>
          <a:bodyPr wrap="square" lIns="9144" rIns="9144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7E22"/>
                </a:solidFill>
                <a:latin typeface="Arial"/>
                <a:ea typeface="Microsoft YaHei"/>
              </a:rPr>
              <a:t>Any exclusion criterion met → remove the complete record and retain its reason</a:t>
            </a:r>
          </a:p>
        </p:txBody>
      </p:sp>
      <p:sp>
        <p:nvSpPr>
          <p:cNvPr id="23" name="node:retained"/>
          <p:cNvSpPr/>
          <p:nvPr/>
        </p:nvSpPr>
        <p:spPr>
          <a:xfrm>
            <a:off x="4206240" y="3364992"/>
            <a:ext cx="3776472" cy="640080"/>
          </a:xfrm>
          <a:prstGeom prst="roundRect">
            <a:avLst>
              <a:gd name="adj" fmla="val 12000"/>
            </a:avLst>
          </a:prstGeom>
          <a:solidFill>
            <a:srgbClr val="DCEBFC"/>
          </a:solidFill>
          <a:ln w="15240">
            <a:solidFill>
              <a:srgbClr val="296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962A4"/>
                </a:solidFill>
                <a:latin typeface="Arial"/>
                <a:ea typeface="Microsoft YaHei"/>
              </a:rPr>
              <a:t>Retained records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333333"/>
                </a:solidFill>
                <a:latin typeface="Arial"/>
                <a:ea typeface="Microsoft YaHei"/>
              </a:rPr>
              <a:t>Same input for both routes</a:t>
            </a:r>
          </a:p>
        </p:txBody>
      </p:sp>
      <p:sp>
        <p:nvSpPr>
          <p:cNvPr id="24" name="node:a"/>
          <p:cNvSpPr/>
          <p:nvPr/>
        </p:nvSpPr>
        <p:spPr>
          <a:xfrm>
            <a:off x="457200" y="4462272"/>
            <a:ext cx="5212080" cy="987552"/>
          </a:xfrm>
          <a:prstGeom prst="roundRect">
            <a:avLst>
              <a:gd name="adj" fmla="val 12000"/>
            </a:avLst>
          </a:prstGeom>
          <a:solidFill>
            <a:srgbClr val="DCEBFC"/>
          </a:solidFill>
          <a:ln w="15240">
            <a:solidFill>
              <a:srgbClr val="296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2962A4"/>
                </a:solidFill>
                <a:latin typeface="Arial"/>
                <a:ea typeface="Microsoft YaHei"/>
              </a:rPr>
              <a:t>Method 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0">
                <a:solidFill>
                  <a:srgbClr val="333333"/>
                </a:solidFill>
                <a:latin typeface="Arial"/>
                <a:ea typeface="Microsoft YaHei"/>
              </a:rPr>
              <a:t>Independent analysis</a:t>
            </a:r>
          </a:p>
        </p:txBody>
      </p:sp>
      <p:sp>
        <p:nvSpPr>
          <p:cNvPr id="25" name="node:b"/>
          <p:cNvSpPr/>
          <p:nvPr/>
        </p:nvSpPr>
        <p:spPr>
          <a:xfrm>
            <a:off x="6519672" y="4462272"/>
            <a:ext cx="5212080" cy="987552"/>
          </a:xfrm>
          <a:prstGeom prst="roundRect">
            <a:avLst>
              <a:gd name="adj" fmla="val 12000"/>
            </a:avLst>
          </a:prstGeom>
          <a:solidFill>
            <a:srgbClr val="F0E1FA"/>
          </a:solidFill>
          <a:ln w="1524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8E44AD"/>
                </a:solidFill>
                <a:latin typeface="Arial"/>
                <a:ea typeface="Microsoft YaHei"/>
              </a:rPr>
              <a:t>Method 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0">
                <a:solidFill>
                  <a:srgbClr val="333333"/>
                </a:solidFill>
                <a:latin typeface="Arial"/>
                <a:ea typeface="Microsoft YaHei"/>
              </a:rPr>
              <a:t>Independent analysis</a:t>
            </a:r>
          </a:p>
        </p:txBody>
      </p:sp>
      <p:sp>
        <p:nvSpPr>
          <p:cNvPr id="26" name="node:outa"/>
          <p:cNvSpPr/>
          <p:nvPr/>
        </p:nvSpPr>
        <p:spPr>
          <a:xfrm>
            <a:off x="457200" y="5852160"/>
            <a:ext cx="5212080" cy="667512"/>
          </a:xfrm>
          <a:prstGeom prst="roundRect">
            <a:avLst>
              <a:gd name="adj" fmla="val 12000"/>
            </a:avLst>
          </a:prstGeom>
          <a:solidFill>
            <a:srgbClr val="DCF5E6"/>
          </a:solidFill>
          <a:ln w="1524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E8B57"/>
                </a:solidFill>
                <a:latin typeface="Arial"/>
                <a:ea typeface="Microsoft YaHei"/>
              </a:rPr>
              <a:t>Results A + QC 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0">
                <a:solidFill>
                  <a:srgbClr val="333333"/>
                </a:solidFill>
                <a:latin typeface="Arial"/>
                <a:ea typeface="Microsoft YaHei"/>
              </a:rPr>
              <a:t>Unknown / conflicting results retained</a:t>
            </a:r>
          </a:p>
        </p:txBody>
      </p:sp>
      <p:sp>
        <p:nvSpPr>
          <p:cNvPr id="27" name="node:outb"/>
          <p:cNvSpPr/>
          <p:nvPr/>
        </p:nvSpPr>
        <p:spPr>
          <a:xfrm>
            <a:off x="6519672" y="5852160"/>
            <a:ext cx="5212080" cy="667512"/>
          </a:xfrm>
          <a:prstGeom prst="roundRect">
            <a:avLst>
              <a:gd name="adj" fmla="val 12000"/>
            </a:avLst>
          </a:prstGeom>
          <a:solidFill>
            <a:srgbClr val="DCF5E6"/>
          </a:solidFill>
          <a:ln w="1524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E8B57"/>
                </a:solidFill>
                <a:latin typeface="Arial"/>
                <a:ea typeface="Microsoft YaHei"/>
              </a:rPr>
              <a:t>Results B + QC 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0">
                <a:solidFill>
                  <a:srgbClr val="333333"/>
                </a:solidFill>
                <a:latin typeface="Arial"/>
                <a:ea typeface="Microsoft YaHei"/>
              </a:rPr>
              <a:t>Unknown / conflicting results retained</a:t>
            </a:r>
          </a:p>
        </p:txBody>
      </p:sp>
      <p:sp>
        <p:nvSpPr>
          <p:cNvPr id="28" name="Page number"/>
          <p:cNvSpPr txBox="1"/>
          <p:nvPr/>
        </p:nvSpPr>
        <p:spPr>
          <a:xfrm>
            <a:off x="11113007" y="6656832"/>
            <a:ext cx="594360" cy="182880"/>
          </a:xfrm>
          <a:prstGeom prst="rect">
            <a:avLst/>
          </a:prstGeom>
          <a:noFill/>
          <a:effectLst/>
        </p:spPr>
        <p:txBody>
          <a:bodyPr wrap="square" lIns="9144" rIns="54864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37373"/>
                </a:solidFill>
                <a:latin typeface="Arial"/>
                <a:ea typeface="Microsoft YaHei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Validation &amp; Feature Extraction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